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6" r:id="rId9"/>
    <p:sldId id="261" r:id="rId10"/>
    <p:sldId id="262" r:id="rId11"/>
    <p:sldId id="273" r:id="rId12"/>
    <p:sldId id="274" r:id="rId13"/>
    <p:sldId id="264" r:id="rId14"/>
    <p:sldId id="275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4.png"/><Relationship Id="rId7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2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.xml"/><Relationship Id="rId7" Type="http://schemas.openxmlformats.org/officeDocument/2006/relationships/image" Target="../media/image8.png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image" Target="../media/image7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4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1839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819150"/>
            <a:ext cx="4095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CFE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FED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面向对象建模综合设计</a:t>
            </a:r>
            <a:endParaRPr sz="1800" b="1">
              <a:solidFill>
                <a:srgbClr val="CFED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409700"/>
            <a:ext cx="5810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4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毕业设计管理系统</a:t>
            </a:r>
            <a:endParaRPr sz="4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705100"/>
            <a:ext cx="600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E6D8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6D8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 · UML 建模 · 系统设计 · 前端原型</a:t>
            </a:r>
            <a:endParaRPr sz="1650" b="0">
              <a:solidFill>
                <a:srgbClr val="E6D8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4210050"/>
            <a:ext cx="5543550" cy="28575"/>
          </a:xfrm>
          <a:prstGeom prst="rect">
            <a:avLst/>
          </a:prstGeom>
          <a:solidFill>
            <a:srgbClr val="B9C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162050" y="4067175"/>
            <a:ext cx="285750" cy="28575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9675" y="40957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4495800"/>
            <a:ext cx="104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问题来源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2400300" y="4067175"/>
            <a:ext cx="285750" cy="285750"/>
          </a:xfrm>
          <a:prstGeom prst="ellipse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447925" y="40957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19300" y="4495800"/>
            <a:ext cx="104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需求获取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3638550" y="4067175"/>
            <a:ext cx="285750" cy="28575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686175" y="40957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57550" y="4495800"/>
            <a:ext cx="104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UML 建模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4876800" y="4067175"/>
            <a:ext cx="285750" cy="285750"/>
          </a:xfrm>
          <a:prstGeom prst="ellipse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24425" y="40957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95800" y="4495800"/>
            <a:ext cx="104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6115050" y="4067175"/>
            <a:ext cx="285750" cy="28575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62675" y="40957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34050" y="4495800"/>
            <a:ext cx="104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原型展示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0" y="1066800"/>
            <a:ext cx="13811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81950" y="1219200"/>
            <a:ext cx="1038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类</a:t>
            </a:r>
            <a:endParaRPr sz="2175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81950" y="1600200"/>
            <a:ext cx="10382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核心角色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48800" y="1066800"/>
            <a:ext cx="13811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620250" y="1219200"/>
            <a:ext cx="1038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10+</a:t>
            </a:r>
            <a:endParaRPr sz="217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620250" y="1600200"/>
            <a:ext cx="10382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业务阶段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0" y="2209800"/>
            <a:ext cx="13811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981950" y="2362200"/>
            <a:ext cx="1038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张</a:t>
            </a:r>
            <a:endParaRPr sz="2175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981950" y="2743200"/>
            <a:ext cx="10382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UML 图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448800" y="2209800"/>
            <a:ext cx="1381125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620250" y="2362200"/>
            <a:ext cx="10382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页</a:t>
            </a:r>
            <a:endParaRPr sz="217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620250" y="2743200"/>
            <a:ext cx="10382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汇报页数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810500" y="3981450"/>
            <a:ext cx="33337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 / 组号：</a:t>
            </a:r>
            <a:r>
              <a:rPr lang="zh-CN"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</a:t>
            </a:r>
            <a:endParaRPr sz="1800" b="0">
              <a:solidFill>
                <a:srgbClr val="DDE8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成员：</a:t>
            </a:r>
            <a:r>
              <a:rPr lang="zh-CN" altLang="en-US"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朱彦锦、吴梓畅、吴徐睿、朱明贤</a:t>
            </a:r>
            <a:endParaRPr lang="zh-CN" altLang="en-US" sz="1800" b="0">
              <a:solidFill>
                <a:srgbClr val="DDE8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DE8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日期：2026-05-26</a:t>
            </a:r>
            <a:endParaRPr sz="1800" b="0">
              <a:solidFill>
                <a:srgbClr val="DDE8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CONTEXT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项目背景与问题来源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18859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809750"/>
            <a:ext cx="588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毕业设计贯穿课题、任务书、开题、中期、论文、评阅、答辩、总评与归档。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5717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2495550"/>
            <a:ext cx="588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原系统过程评价不足，开题与中期缺少足够的质量控制闭环。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2575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3181350"/>
            <a:ext cx="588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评价主体偏单一，指导教师之外的评价教师参与度需要被显式纳入。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39433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3867150"/>
            <a:ext cx="58864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评阅分配、答辩分组、成绩汇总等环节人工协调成本较高。</a:t>
            </a:r>
            <a:endParaRPr sz="16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0" y="1752600"/>
            <a:ext cx="1428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791450" y="19050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项</a:t>
            </a:r>
            <a:endParaRPr sz="217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91450" y="228600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直接改进目标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15450" y="1752600"/>
            <a:ext cx="1619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486900" y="1905000"/>
            <a:ext cx="1276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5-10 分钟</a:t>
            </a:r>
            <a:endParaRPr sz="2175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86900" y="2286000"/>
            <a:ext cx="1276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课程提交时长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20000" y="3162300"/>
            <a:ext cx="3314700" cy="1695450"/>
          </a:xfrm>
          <a:prstGeom prst="rect">
            <a:avLst/>
          </a:prstGeom>
          <a:solidFill>
            <a:srgbClr val="FDFBF6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48600" y="34099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问题驱动建模</a:t>
            </a:r>
            <a:endParaRPr sz="180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48600" y="3848100"/>
            <a:ext cx="2819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本项目不是虚构一个新业务，而是根据课程材料中暴露出的流程缺口，重构角色、用例、对象、状态与部署设计。</a:t>
            </a:r>
            <a:endParaRPr sz="135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REQUIREMENT METHOD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需求获取方法与分析结论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828800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21336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文档分析</a:t>
            </a:r>
            <a:endParaRPr sz="20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686050"/>
            <a:ext cx="247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读取课程任务、业务流程、评分规则，明确系统边界与痛点。</a:t>
            </a:r>
            <a:endParaRPr sz="13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24350" y="1828800"/>
            <a:ext cx="3048000" cy="180975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21336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场景化访谈</a:t>
            </a:r>
            <a:endParaRPr sz="20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52950" y="2686050"/>
            <a:ext cx="247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站在管理、教师、学生视角模拟关注点与常见问题。</a:t>
            </a:r>
            <a:endParaRPr sz="13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81950" y="1828800"/>
            <a:ext cx="3048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10550" y="213360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关键流程推演</a:t>
            </a:r>
            <a:endParaRPr sz="20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10550" y="2686050"/>
            <a:ext cx="247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围绕课题、开题、中期、评阅、答辩、总评提炼用例。</a:t>
            </a:r>
            <a:endParaRPr sz="13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66800" y="4343400"/>
            <a:ext cx="9906000" cy="1066800"/>
          </a:xfrm>
          <a:prstGeom prst="rect">
            <a:avLst/>
          </a:prstGeom>
          <a:solidFill>
            <a:srgbClr val="162A32"/>
          </a:solidFill>
          <a:ln w="9525">
            <a:solidFill>
              <a:srgbClr val="162A3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71600" y="46101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E6D8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6D8B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分析结论</a:t>
            </a:r>
            <a:endParaRPr sz="1650" b="1">
              <a:solidFill>
                <a:srgbClr val="E6D8B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57500" y="4552950"/>
            <a:ext cx="7429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系统本质上是一个多角色、强流程、强审批、强状态的业务系统；建模重点必须落在多主体评价、材料生命周期、统计归档与异常处理。</a:t>
            </a:r>
            <a:endParaRPr sz="17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 MAP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参与者识别与需求划分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828800"/>
            <a:ext cx="23431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19812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系统管理员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2266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初始化/统计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71850" y="1828800"/>
            <a:ext cx="23431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19812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教学秘书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2266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流程/发布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76950" y="1828800"/>
            <a:ext cx="23431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48400" y="19812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教学院长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8400" y="2266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发布/查询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82050" y="1828800"/>
            <a:ext cx="23431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0" y="19812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专业负责人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53500" y="2266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审核/分配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2800350"/>
            <a:ext cx="2343150" cy="6858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8200" y="2952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3238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申报/审核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371850" y="2800350"/>
            <a:ext cx="2343150" cy="6858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543300" y="2952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评阅教师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543300" y="3238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评阅/评分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76950" y="2800350"/>
            <a:ext cx="2343150" cy="6858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248400" y="2952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答辩录入员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48400" y="3238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答辩录入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82050" y="2800350"/>
            <a:ext cx="2343150" cy="6858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53500" y="2952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</a:t>
            </a:r>
            <a:endParaRPr sz="1650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953500" y="3238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提交/查询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1200150" y="4400550"/>
            <a:ext cx="342900" cy="34290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1050" y="4857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组织账号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00200" y="4572000"/>
            <a:ext cx="1333500" cy="19050"/>
          </a:xfrm>
          <a:prstGeom prst="rect">
            <a:avLst/>
          </a:prstGeom>
          <a:solidFill>
            <a:srgbClr val="B9C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3200400" y="4400550"/>
            <a:ext cx="342900" cy="342900"/>
          </a:xfrm>
          <a:prstGeom prst="ellipse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781300" y="4857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课题选题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00450" y="4572000"/>
            <a:ext cx="1333500" cy="19050"/>
          </a:xfrm>
          <a:prstGeom prst="rect">
            <a:avLst/>
          </a:prstGeom>
          <a:solidFill>
            <a:srgbClr val="B9C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5200650" y="4400550"/>
            <a:ext cx="342900" cy="34290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781550" y="4857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过程材料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600700" y="4572000"/>
            <a:ext cx="1333500" cy="19050"/>
          </a:xfrm>
          <a:prstGeom prst="rect">
            <a:avLst/>
          </a:prstGeom>
          <a:solidFill>
            <a:srgbClr val="B9C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7200900" y="4400550"/>
            <a:ext cx="342900" cy="342900"/>
          </a:xfrm>
          <a:prstGeom prst="ellipse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781800" y="4857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评阅答辩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00950" y="4572000"/>
            <a:ext cx="1333500" cy="19050"/>
          </a:xfrm>
          <a:prstGeom prst="rect">
            <a:avLst/>
          </a:prstGeom>
          <a:solidFill>
            <a:srgbClr val="B9C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9201150" y="4400550"/>
            <a:ext cx="342900" cy="34290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782050" y="4857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成绩统计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CASE MODEL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用例模型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：系统总用例图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793875" y="1676400"/>
            <a:ext cx="7771765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24225" y="5792470"/>
            <a:ext cx="554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系统总用例图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 descr="system-use-case-horizont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255" y="1767840"/>
            <a:ext cx="5996940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CASE MODEL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用例模型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：重点用例实现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7720" y="1619250"/>
            <a:ext cx="3110865" cy="4617085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1930" y="1676400"/>
            <a:ext cx="1340485" cy="4199255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564380" y="1619250"/>
            <a:ext cx="3044190" cy="4620895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80050" y="1619250"/>
            <a:ext cx="1212850" cy="4256405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09515" y="5952490"/>
            <a:ext cx="19716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教师侧用例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54365" y="1619250"/>
            <a:ext cx="3202940" cy="4617085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115" y="1696085"/>
            <a:ext cx="1644015" cy="418020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7899400" y="5952490"/>
            <a:ext cx="43719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 / 评阅 / 答辩侧用例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414145" y="5952490"/>
            <a:ext cx="19716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管理侧用例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REALIZATIONS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重点用例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实现说明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742950" y="1866900"/>
            <a:ext cx="419100" cy="419100"/>
          </a:xfrm>
          <a:prstGeom prst="ellipse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9431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17335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课题申报与审核发布</a:t>
            </a:r>
            <a:endParaRPr sz="20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28750" y="2152650"/>
            <a:ext cx="542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支持教师盲选、教师指定学生、学生申报三类来源。</a:t>
            </a:r>
            <a:endParaRPr sz="14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742950" y="3124200"/>
            <a:ext cx="419100" cy="419100"/>
          </a:xfrm>
          <a:prstGeom prst="ellipse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2004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29908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开题报告审核与评价</a:t>
            </a:r>
            <a:endParaRPr sz="20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28750" y="3409950"/>
            <a:ext cx="542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学生提交后由指导教师与评价教师共同完成过程评价。</a:t>
            </a:r>
            <a:endParaRPr sz="14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742950" y="4381500"/>
            <a:ext cx="419100" cy="41910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445770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248150"/>
            <a:ext cx="390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答辩成绩录入与总评发布</a:t>
            </a:r>
            <a:endParaRPr sz="20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4667250"/>
            <a:ext cx="542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按指导 30%、评阅 30%、答辩 40% 汇总并发布。</a:t>
            </a:r>
            <a:endParaRPr sz="14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524750" y="1790700"/>
            <a:ext cx="3143250" cy="3067050"/>
          </a:xfrm>
          <a:prstGeom prst="rect">
            <a:avLst/>
          </a:prstGeom>
          <a:solidFill>
            <a:srgbClr val="FDFBF6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209550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共同结构</a:t>
            </a:r>
            <a:endParaRPr sz="195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905750" y="27622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2686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905750" y="31432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3067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参与者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905750" y="35242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15300" y="3448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主成功场景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0" y="39052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115300" y="3829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异常流程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05750" y="4286250"/>
            <a:ext cx="76200" cy="7620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15300" y="42100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后置状态</a:t>
            </a:r>
            <a:endParaRPr sz="14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SEQUENCE VIEW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顺序图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与业务交互过程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10297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169545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117" y="1790700"/>
            <a:ext cx="4728865" cy="354330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23900" y="5372100"/>
            <a:ext cx="506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开题报告审核与评价顺序图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69545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274960"/>
            <a:ext cx="5143500" cy="2574779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419850" y="5372100"/>
            <a:ext cx="506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答辩成绩录入与总评发布顺序图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00850" y="1615440"/>
            <a:ext cx="4569460" cy="462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 &amp; STATE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活动图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69010" y="1650365"/>
            <a:ext cx="4569460" cy="46228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95450" y="1650365"/>
            <a:ext cx="3137535" cy="401510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597660" y="5899150"/>
            <a:ext cx="3162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课题与选题活动图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13775" y="1644015"/>
            <a:ext cx="942975" cy="4032885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503795" y="5827395"/>
            <a:ext cx="3162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论文全过程活动图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520815" y="1285240"/>
            <a:ext cx="4563110" cy="528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89330" y="1285240"/>
            <a:ext cx="4563110" cy="528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230" y="1433830"/>
            <a:ext cx="2272665" cy="4591685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1665605" y="613537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课题状态图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935" y="1507490"/>
            <a:ext cx="1619885" cy="4444365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6465570" y="6025515"/>
            <a:ext cx="461835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论文材料状态图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FLOW &amp; STATE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状态图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 MODEL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领域分析与类图设计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9005" y="1433195"/>
            <a:ext cx="5340985" cy="521589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2943225" y="6380480"/>
            <a:ext cx="6305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领域类图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 MODEL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>
                <a:sym typeface="+mn-ea"/>
              </a:rPr>
              <a:t>领域分析与类图设计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1724025"/>
            <a:ext cx="11055350" cy="500761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2028825"/>
            <a:ext cx="9448165" cy="411670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2845435" y="6501130"/>
            <a:ext cx="6501130" cy="3568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分析类图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36915" y="5221605"/>
            <a:ext cx="76200" cy="76200"/>
          </a:xfrm>
          <a:prstGeom prst="rect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46465" y="5145405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实体类：User / Topic / TaskBook / ScoreSheet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36915" y="5583555"/>
            <a:ext cx="76200" cy="76200"/>
          </a:xfrm>
          <a:prstGeom prst="rect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546465" y="5507355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边界类：提交、审核、分配、发布页面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36915" y="5945505"/>
            <a:ext cx="76200" cy="76200"/>
          </a:xfrm>
          <a:prstGeom prst="rect">
            <a:avLst/>
          </a:prstGeom>
          <a:solidFill>
            <a:srgbClr val="007C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46465" y="5869305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控制类：Topic / Proposal / Review / Score Controller</a:t>
            </a:r>
            <a:endParaRPr sz="1200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DATABASE DESIGN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数据库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设计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657350"/>
            <a:ext cx="61722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2883279"/>
            <a:ext cx="5981700" cy="1491492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42950" y="5543550"/>
            <a:ext cx="590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ER 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96150" y="1752600"/>
            <a:ext cx="365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18478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组织与权限</a:t>
            </a:r>
            <a:endParaRPr sz="150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934450" y="18764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/ role / college / major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96150" y="2495550"/>
            <a:ext cx="365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25908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课题与选题</a:t>
            </a:r>
            <a:endParaRPr sz="150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934450" y="261937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topic / topic_review / topic_selection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96150" y="3238500"/>
            <a:ext cx="365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86650" y="3333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过程材料</a:t>
            </a:r>
            <a:endParaRPr sz="150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934450" y="33623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task_book / proposal / midterm / thesis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96150" y="3981450"/>
            <a:ext cx="365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486650" y="40767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评阅答辩</a:t>
            </a:r>
            <a:endParaRPr sz="150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34450" y="410527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review_assignment / defense_record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96150" y="4724400"/>
            <a:ext cx="3657600" cy="5334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486650" y="48196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成绩归档</a:t>
            </a:r>
            <a:endParaRPr sz="150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34450" y="4848225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score_sheet / archive / export_task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29500" y="5600700"/>
            <a:ext cx="3524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总评权重：指导 30% · 评阅 30% · 答辩 40%</a:t>
            </a:r>
            <a:endParaRPr sz="1350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 COVERAGE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课程要求已经映射到对应文档、图和原型成果。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676400"/>
            <a:ext cx="1028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CC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18097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需求获取与用例模型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0" y="1819275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requirements-analysis.md / use-case-analysis.md / 用例图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0610850" y="1838325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00300"/>
            <a:ext cx="10287000" cy="514350"/>
          </a:xfrm>
          <a:prstGeom prst="rect">
            <a:avLst/>
          </a:prstGeom>
          <a:solidFill>
            <a:srgbClr val="FDFBF6"/>
          </a:solidFill>
          <a:ln w="9525">
            <a:solidFill>
              <a:srgbClr val="E1DCC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25336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用例实现与类图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0" y="2543175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use-case-realizations.md / domain-class-design.md / 类图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0610850" y="2562225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124200"/>
            <a:ext cx="1028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CCE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32575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顺序图、活动图、状态图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00500" y="3267075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sequence-*.png / activity-*.png / state-*.png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10610850" y="3286125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3848100"/>
            <a:ext cx="10287000" cy="514350"/>
          </a:xfrm>
          <a:prstGeom prst="rect">
            <a:avLst/>
          </a:prstGeom>
          <a:solidFill>
            <a:srgbClr val="FDFBF6"/>
          </a:solidFill>
          <a:ln w="9525">
            <a:solidFill>
              <a:srgbClr val="E1DCCE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39814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数据库、包图、构件图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0" y="3990975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database-design.md / package-diagram.png / component-diagram.png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610850" y="4010025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4572000"/>
            <a:ext cx="1028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CC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47053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界面设计与部署图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00500" y="4714875"/>
            <a:ext cx="647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interface-design.md / frontend/ / deployment-diagram.png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610850" y="4733925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STRUCTURE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技术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路线与系统机构设计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638300"/>
            <a:ext cx="4953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2445385"/>
            <a:ext cx="4697730" cy="1527175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742950" y="47434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包图：按业务域划分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00750" y="1638300"/>
            <a:ext cx="4953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24566"/>
            <a:ext cx="4762500" cy="1389769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6134100" y="47434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构件图：前端、业务与数据模块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" y="5505450"/>
            <a:ext cx="1009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+ JavaScript · Mock 数据 · Markdown + PlantUML + draw.io · Vite 本地演示</a:t>
            </a:r>
            <a:endParaRPr sz="150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DEPLOYMENT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部署设计</a:t>
            </a: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与运行环境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657350"/>
            <a:ext cx="59055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BC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931590"/>
            <a:ext cx="5715000" cy="318532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800100" y="5334000"/>
            <a:ext cx="563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部署图</a:t>
            </a:r>
            <a:endParaRPr sz="9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1924050"/>
            <a:ext cx="3333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21336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原型演示环境</a:t>
            </a:r>
            <a:endParaRPr sz="180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514600"/>
            <a:ext cx="264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浏览器访问 Vue 前端应用，由 Mock 数据模块提供本地接口模拟。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3543300"/>
            <a:ext cx="3333750" cy="1143000"/>
          </a:xfrm>
          <a:prstGeom prst="rect">
            <a:avLst/>
          </a:prstGeom>
          <a:solidFill>
            <a:srgbClr val="EFF8F7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86650" y="37528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完整逻辑部署</a:t>
            </a:r>
            <a:endParaRPr sz="180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86650" y="4133850"/>
            <a:ext cx="2647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静态资源服务、业务应用服务、关系型数据库与文件存储分层协作。</a:t>
            </a:r>
            <a:endParaRPr sz="127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INTERFACE PROTOTYPE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前端原型</a:t>
            </a:r>
            <a:endParaRPr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1714500"/>
            <a:ext cx="10287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85800" y="1714500"/>
            <a:ext cx="10287000" cy="495300"/>
          </a:xfrm>
          <a:prstGeom prst="rect">
            <a:avLst/>
          </a:prstGeom>
          <a:solidFill>
            <a:srgbClr val="153943"/>
          </a:solidFill>
          <a:ln w="0">
            <a:solidFill>
              <a:srgbClr val="15394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52500" y="18478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毕业设计管理系统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96250" y="188595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D6E9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D6E9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角色切换  待办  消息  用户</a:t>
            </a:r>
            <a:endParaRPr sz="1050" b="0">
              <a:solidFill>
                <a:srgbClr val="D6E9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209800"/>
            <a:ext cx="2000250" cy="2933700"/>
          </a:xfrm>
          <a:prstGeom prst="rect">
            <a:avLst/>
          </a:prstGeom>
          <a:solidFill>
            <a:srgbClr val="F0F4F2"/>
          </a:solidFill>
          <a:ln w="9525">
            <a:solidFill>
              <a:srgbClr val="E0DBC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24955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首页仪表盘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285750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课题与选题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32194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过程材料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358140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评阅与答辩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394335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成绩与统计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4305300"/>
            <a:ext cx="1314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归档与系统</a:t>
            </a:r>
            <a:endParaRPr sz="1125" b="0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05150" y="2571750"/>
            <a:ext cx="1524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276600" y="2724150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217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276600" y="3105150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待处理开题报告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819650" y="2571750"/>
            <a:ext cx="1524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91100" y="2724150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98A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2175" b="1">
              <a:solidFill>
                <a:srgbClr val="C98A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91100" y="3105150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中期待评价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34150" y="2571750"/>
            <a:ext cx="15240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05600" y="2724150"/>
            <a:ext cx="118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2D8A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D8A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175" b="1">
              <a:solidFill>
                <a:srgbClr val="2D8A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705600" y="3105150"/>
            <a:ext cx="1181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待发布成绩</a:t>
            </a:r>
            <a:endParaRPr sz="105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05150" y="3771900"/>
            <a:ext cx="7239000" cy="876300"/>
          </a:xfrm>
          <a:prstGeom prst="rect">
            <a:avLst/>
          </a:prstGeom>
          <a:solidFill>
            <a:srgbClr val="FDFBF6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371850" y="39624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开题报告审核</a:t>
            </a:r>
            <a:endParaRPr sz="1650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71850" y="4324350"/>
            <a:ext cx="571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材料版本、指导教师评价、评价教师意见、状态流转在同一页面完成。</a:t>
            </a:r>
            <a:endParaRPr sz="1200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0100" y="556260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8A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D8A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构建验证：前端 Vite 生产构建成功</a:t>
            </a:r>
            <a:endParaRPr sz="1350" b="1">
              <a:solidFill>
                <a:srgbClr val="2D8A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/>
          <p:cNvSpPr>
            <a:spLocks noGrp="1"/>
          </p:cNvSpPr>
          <p:nvPr/>
        </p:nvSpPr>
        <p:spPr>
          <a:xfrm>
            <a:off x="533400" y="476250"/>
            <a:ext cx="95250" cy="95250"/>
          </a:xfrm>
          <a:prstGeom prst="rect">
            <a:avLst/>
          </a:prstGeom>
          <a:solidFill>
            <a:srgbClr val="C98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/>
          <p:cNvSpPr>
            <a:spLocks noGrp="1"/>
          </p:cNvSpPr>
          <p:nvPr/>
        </p:nvSpPr>
        <p:spPr>
          <a:xfrm>
            <a:off x="723900" y="40005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1125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62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2550" b="1">
                <a:solidFill>
                  <a:srgbClr val="17202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成果总结</a:t>
            </a:r>
            <a:endParaRPr lang="zh-CN" sz="2550" b="1">
              <a:solidFill>
                <a:srgbClr val="17202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96625" y="5334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A65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125" b="0">
              <a:solidFill>
                <a:srgbClr val="5A65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390650"/>
            <a:ext cx="11125200" cy="9525"/>
          </a:xfrm>
          <a:prstGeom prst="rect">
            <a:avLst/>
          </a:prstGeom>
          <a:solidFill>
            <a:srgbClr val="D8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097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914400" y="200025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0015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0" y="18097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390900" y="200025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7665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UML 建模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0" y="18097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5867400" y="200025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180975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343900" y="200025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29650" y="1962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26289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14400" y="281940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200150" y="27813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部署设计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238500" y="26289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3390900" y="281940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676650" y="27813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界面设计说明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715000" y="26289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3"/>
            </a:solidFill>
            <a:prstDash val="solid"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5867400" y="2819400"/>
            <a:ext cx="171450" cy="171450"/>
          </a:xfrm>
          <a:prstGeom prst="ellipse">
            <a:avLst/>
          </a:prstGeom>
          <a:solidFill>
            <a:srgbClr val="2D8A5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153150" y="27813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20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前端原型</a:t>
            </a:r>
            <a:endParaRPr sz="1425" b="1">
              <a:solidFill>
                <a:srgbClr val="1720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33650" y="4389120"/>
            <a:ext cx="6605905" cy="9099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6600" b="1">
                <a:solidFill>
                  <a:srgbClr val="007C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感谢聆听！</a:t>
            </a:r>
            <a:endParaRPr lang="zh-CN" sz="6600" b="1">
              <a:solidFill>
                <a:srgbClr val="007C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2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3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4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5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6.xml><?xml version="1.0" encoding="utf-8"?>
<p:tagLst xmlns:p="http://schemas.openxmlformats.org/presentationml/2006/main">
  <p:tag name="KSO_WM_DIAGRAM_VIRTUALLY_FRAME" val="{&quot;height&quot;:363.85,&quot;left&quot;:63.6,&quot;top&quot;:127.5,&quot;width&quot;:535.5}"/>
</p:tagLst>
</file>

<file path=ppt/tags/tag7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ags/tag8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ags/tag9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ags/tag10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ags/tag11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ags/tag12.xml><?xml version="1.0" encoding="utf-8"?>
<p:tagLst xmlns:p="http://schemas.openxmlformats.org/presentationml/2006/main">
  <p:tag name="KSO_WM_DIAGRAM_VIRTUALLY_FRAME" val="{&quot;height&quot;:366.75,&quot;left&quot;:76.3,&quot;top&quot;:127.2,&quot;width&quot;:819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2221</Words>
  <Application>WPS 演示</Application>
  <PresentationFormat>Converted Presentation</PresentationFormat>
  <Paragraphs>396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Microsoft YaHei UI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WWW</cp:lastModifiedBy>
  <cp:revision>7</cp:revision>
  <dcterms:created xsi:type="dcterms:W3CDTF">2026-05-26T14:34:00Z</dcterms:created>
  <dcterms:modified xsi:type="dcterms:W3CDTF">2026-05-27T14:50:42Z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0DCA223C875C436D96159F037E4C931B_12</vt:lpwstr>
  </property>
</Properties>
</file>