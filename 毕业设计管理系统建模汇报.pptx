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32c4f5dfb74fbe" /><Relationship Type="http://schemas.openxmlformats.org/officeDocument/2006/relationships/extended-properties" Target="/docProps/app.xml" Id="Ra332880c594e4cf0" /><Relationship Type="http://schemas.openxmlformats.org/officeDocument/2006/relationships/officeDocument" Target="/ppt/presentation.xml" Id="R7e459db14e3144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6efc0e23664545"/>
  </p:sldMasterIdLst>
  <p:notesMasterIdLst>
    <p:notesMasterId xmlns:r="http://schemas.openxmlformats.org/officeDocument/2006/relationships" r:id="R6d432bc492e74046"/>
  </p:notesMasterIdLst>
  <p:sldIdLst>
    <p:sldId xmlns:r="http://schemas.openxmlformats.org/officeDocument/2006/relationships" id="256" r:id="Raf2d8c9c03bf47f3"/>
    <p:sldId xmlns:r="http://schemas.openxmlformats.org/officeDocument/2006/relationships" id="257" r:id="R97f93c4be18c4e9c"/>
    <p:sldId xmlns:r="http://schemas.openxmlformats.org/officeDocument/2006/relationships" id="258" r:id="R100b9ef3b5d9499a"/>
    <p:sldId xmlns:r="http://schemas.openxmlformats.org/officeDocument/2006/relationships" id="259" r:id="R2628148f1212468b"/>
    <p:sldId xmlns:r="http://schemas.openxmlformats.org/officeDocument/2006/relationships" id="260" r:id="R6e8102198e7b4dca"/>
    <p:sldId xmlns:r="http://schemas.openxmlformats.org/officeDocument/2006/relationships" id="261" r:id="Rba556ba7d38e4fe3"/>
    <p:sldId xmlns:r="http://schemas.openxmlformats.org/officeDocument/2006/relationships" id="262" r:id="Ra19830fba7a94804"/>
    <p:sldId xmlns:r="http://schemas.openxmlformats.org/officeDocument/2006/relationships" id="263" r:id="R08d1ddbdb8754b31"/>
    <p:sldId xmlns:r="http://schemas.openxmlformats.org/officeDocument/2006/relationships" id="264" r:id="Rbcfc2417e20d4b3e"/>
    <p:sldId xmlns:r="http://schemas.openxmlformats.org/officeDocument/2006/relationships" id="265" r:id="R8fa934d6870f44a4"/>
    <p:sldId xmlns:r="http://schemas.openxmlformats.org/officeDocument/2006/relationships" id="266" r:id="Rad184d3321124daa"/>
    <p:sldId xmlns:r="http://schemas.openxmlformats.org/officeDocument/2006/relationships" id="267" r:id="Rf7dd62a544ab4dae"/>
    <p:sldId xmlns:r="http://schemas.openxmlformats.org/officeDocument/2006/relationships" id="268" r:id="R46f79bbc4ae8440b"/>
    <p:sldId xmlns:r="http://schemas.openxmlformats.org/officeDocument/2006/relationships" id="269" r:id="Rbde5e3da80ae401c"/>
    <p:sldId xmlns:r="http://schemas.openxmlformats.org/officeDocument/2006/relationships" id="270" r:id="Rda1d70c756f845a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6efc0e23664545" /><Relationship Type="http://schemas.openxmlformats.org/officeDocument/2006/relationships/theme" Target="/ppt/theme/theme1.xml" Id="Rf36ae14722c24a2b" /><Relationship Type="http://schemas.openxmlformats.org/officeDocument/2006/relationships/notesMaster" Target="/ppt/notesMasters/notesMaster1.xml" Id="R6d432bc492e74046" /><Relationship Type="http://schemas.openxmlformats.org/officeDocument/2006/relationships/presProps" Target="/ppt/presProps.xml" Id="Rd48eec5413814456" /><Relationship Type="http://schemas.openxmlformats.org/officeDocument/2006/relationships/viewProps" Target="/ppt/viewProps.xml" Id="Rb4be354d5c574663" /><Relationship Type="http://schemas.openxmlformats.org/officeDocument/2006/relationships/tableStyles" Target="/ppt/tableStyles.xml" Id="R34c3abee2529430c" /><Relationship Type="http://schemas.openxmlformats.org/officeDocument/2006/relationships/slide" Target="/ppt/slides/slide1.xml" Id="Raf2d8c9c03bf47f3" /><Relationship Type="http://schemas.openxmlformats.org/officeDocument/2006/relationships/slide" Target="/ppt/slides/slide2.xml" Id="R97f93c4be18c4e9c" /><Relationship Type="http://schemas.openxmlformats.org/officeDocument/2006/relationships/slide" Target="/ppt/slides/slide3.xml" Id="R100b9ef3b5d9499a" /><Relationship Type="http://schemas.openxmlformats.org/officeDocument/2006/relationships/slide" Target="/ppt/slides/slide4.xml" Id="R2628148f1212468b" /><Relationship Type="http://schemas.openxmlformats.org/officeDocument/2006/relationships/slide" Target="/ppt/slides/slide5.xml" Id="R6e8102198e7b4dca" /><Relationship Type="http://schemas.openxmlformats.org/officeDocument/2006/relationships/slide" Target="/ppt/slides/slide6.xml" Id="Rba556ba7d38e4fe3" /><Relationship Type="http://schemas.openxmlformats.org/officeDocument/2006/relationships/slide" Target="/ppt/slides/slide7.xml" Id="Ra19830fba7a94804" /><Relationship Type="http://schemas.openxmlformats.org/officeDocument/2006/relationships/slide" Target="/ppt/slides/slide8.xml" Id="R08d1ddbdb8754b31" /><Relationship Type="http://schemas.openxmlformats.org/officeDocument/2006/relationships/slide" Target="/ppt/slides/slide9.xml" Id="Rbcfc2417e20d4b3e" /><Relationship Type="http://schemas.openxmlformats.org/officeDocument/2006/relationships/slide" Target="/ppt/slides/slide10.xml" Id="R8fa934d6870f44a4" /><Relationship Type="http://schemas.openxmlformats.org/officeDocument/2006/relationships/slide" Target="/ppt/slides/slide11.xml" Id="Rad184d3321124daa" /><Relationship Type="http://schemas.openxmlformats.org/officeDocument/2006/relationships/slide" Target="/ppt/slides/slide12.xml" Id="Rf7dd62a544ab4dae" /><Relationship Type="http://schemas.openxmlformats.org/officeDocument/2006/relationships/slide" Target="/ppt/slides/slide13.xml" Id="R46f79bbc4ae8440b" /><Relationship Type="http://schemas.openxmlformats.org/officeDocument/2006/relationships/slide" Target="/ppt/slides/slide14.xml" Id="Rbde5e3da80ae401c" /><Relationship Type="http://schemas.openxmlformats.org/officeDocument/2006/relationships/slide" Target="/ppt/slides/slide15.xml" Id="Rda1d70c756f845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fc15cce37fe4b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051ee328fc4792" /><Relationship Type="http://schemas.openxmlformats.org/officeDocument/2006/relationships/notesMaster" Target="/ppt/notesMasters/notesMaster1.xml" Id="Rc46dbe0c821d44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172c6cfd8e4153" /><Relationship Type="http://schemas.openxmlformats.org/officeDocument/2006/relationships/notesMaster" Target="/ppt/notesMasters/notesMaster1.xml" Id="R8d99cf1d4df54b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bfa4e91c2c4568" /><Relationship Type="http://schemas.openxmlformats.org/officeDocument/2006/relationships/notesMaster" Target="/ppt/notesMasters/notesMaster1.xml" Id="Re4480f569a2d46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548b65763f4f1b" /><Relationship Type="http://schemas.openxmlformats.org/officeDocument/2006/relationships/notesMaster" Target="/ppt/notesMasters/notesMaster1.xml" Id="R189ed670e73147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12dec83b1b4db1" /><Relationship Type="http://schemas.openxmlformats.org/officeDocument/2006/relationships/notesMaster" Target="/ppt/notesMasters/notesMaster1.xml" Id="Rbdc409b82fb34a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e9d0fd614e4d44" /><Relationship Type="http://schemas.openxmlformats.org/officeDocument/2006/relationships/notesMaster" Target="/ppt/notesMasters/notesMaster1.xml" Id="R5cc1313f838f45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fb9b5fe1e84a8c" /><Relationship Type="http://schemas.openxmlformats.org/officeDocument/2006/relationships/notesMaster" Target="/ppt/notesMasters/notesMaster1.xml" Id="R4bc0d4469bb04f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2132184b124f53" /><Relationship Type="http://schemas.openxmlformats.org/officeDocument/2006/relationships/notesMaster" Target="/ppt/notesMasters/notesMaster1.xml" Id="R2b9fd203451e4f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0dc3e632ca45f3" /><Relationship Type="http://schemas.openxmlformats.org/officeDocument/2006/relationships/notesMaster" Target="/ppt/notesMasters/notesMaster1.xml" Id="Re783bcf7973741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670e4e29c74b51" /><Relationship Type="http://schemas.openxmlformats.org/officeDocument/2006/relationships/notesMaster" Target="/ppt/notesMasters/notesMaster1.xml" Id="Rae0238d34c8340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c571463fb04e05" /><Relationship Type="http://schemas.openxmlformats.org/officeDocument/2006/relationships/notesMaster" Target="/ppt/notesMasters/notesMaster1.xml" Id="Rbb6c5a776ea54d4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1c64ec5ddc419a" /><Relationship Type="http://schemas.openxmlformats.org/officeDocument/2006/relationships/notesMaster" Target="/ppt/notesMasters/notesMaster1.xml" Id="R401c28b8d1d7491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fcc6b0eb15e476f" /><Relationship Type="http://schemas.openxmlformats.org/officeDocument/2006/relationships/notesMaster" Target="/ppt/notesMasters/notesMaster1.xml" Id="Rd74d9704e60a4c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838c2b700ab45f5" /><Relationship Type="http://schemas.openxmlformats.org/officeDocument/2006/relationships/notesMaster" Target="/ppt/notesMasters/notesMaster1.xml" Id="Rb46426b5ea884b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48c458feda9452a" /><Relationship Type="http://schemas.openxmlformats.org/officeDocument/2006/relationships/notesMaster" Target="/ppt/notesMasters/notesMaster1.xml" Id="Rb94f202266524e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fb823f8d0462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6e7e8c8241741b7" /><Relationship Type="http://schemas.openxmlformats.org/officeDocument/2006/relationships/slideLayout" Target="/ppt/slideLayouts/slideLayout2.xml" Id="R49f8bf39511a43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f8bf39511a43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84e513334f4de9" /><Relationship Type="http://schemas.openxmlformats.org/officeDocument/2006/relationships/notesSlide" Target="/ppt/notesSlides/notesSlide1.xml" Id="Rabdb67d7d4a443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475b463fc74068" /><Relationship Type="http://schemas.openxmlformats.org/officeDocument/2006/relationships/notesSlide" Target="/ppt/notesSlides/notesSlide2.xml" Id="R1432828e969441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162113b4524c9f" /><Relationship Type="http://schemas.openxmlformats.org/officeDocument/2006/relationships/notesSlide" Target="/ppt/notesSlides/notesSlide3.xml" Id="Rcf7514e3ad124b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bbb2088dc94a62" /><Relationship Type="http://schemas.openxmlformats.org/officeDocument/2006/relationships/notesSlide" Target="/ppt/notesSlides/notesSlide4.xml" Id="R7b7cefca53384d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cad8468daa44b8" /><Relationship Type="http://schemas.openxmlformats.org/officeDocument/2006/relationships/image" Target="/ppt/media/image.png" Id="Rb8c0c810d56a412b" /><Relationship Type="http://schemas.openxmlformats.org/officeDocument/2006/relationships/image" Target="/ppt/media/image2.png" Id="R20e9ce8d2ddd49d0" /><Relationship Type="http://schemas.openxmlformats.org/officeDocument/2006/relationships/image" Target="/ppt/media/image3.png" Id="R224977cf33b04b3d" /><Relationship Type="http://schemas.openxmlformats.org/officeDocument/2006/relationships/image" Target="/ppt/media/image4.png" Id="R0ce7a6af0c7b482f" /><Relationship Type="http://schemas.openxmlformats.org/officeDocument/2006/relationships/notesSlide" Target="/ppt/notesSlides/notesSlide5.xml" Id="Rbdd90ab0859148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ab362d611e40cc" /><Relationship Type="http://schemas.openxmlformats.org/officeDocument/2006/relationships/notesSlide" Target="/ppt/notesSlides/notesSlide6.xml" Id="R444e659b203a4d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f8f1118a7d4d03" /><Relationship Type="http://schemas.openxmlformats.org/officeDocument/2006/relationships/image" Target="/ppt/media/image5.png" Id="Rcc7d8467200e454d" /><Relationship Type="http://schemas.openxmlformats.org/officeDocument/2006/relationships/image" Target="/ppt/media/image6.png" Id="R777e67159125492c" /><Relationship Type="http://schemas.openxmlformats.org/officeDocument/2006/relationships/notesSlide" Target="/ppt/notesSlides/notesSlide7.xml" Id="R8eb1b9ca806844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38a9f594bb4116" /><Relationship Type="http://schemas.openxmlformats.org/officeDocument/2006/relationships/image" Target="/ppt/media/image7.png" Id="Rf280e123bb374148" /><Relationship Type="http://schemas.openxmlformats.org/officeDocument/2006/relationships/image" Target="/ppt/media/image8.png" Id="Ree7a34fb48754e85" /><Relationship Type="http://schemas.openxmlformats.org/officeDocument/2006/relationships/image" Target="/ppt/media/image9.png" Id="Rb92e5caf5bc8444a" /><Relationship Type="http://schemas.openxmlformats.org/officeDocument/2006/relationships/image" Target="/ppt/media/image10.png" Id="R753a24aef4bd489a" /><Relationship Type="http://schemas.openxmlformats.org/officeDocument/2006/relationships/notesSlide" Target="/ppt/notesSlides/notesSlide8.xml" Id="Ra2c9632dcb4c45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460f7612204f49" /><Relationship Type="http://schemas.openxmlformats.org/officeDocument/2006/relationships/image" Target="/ppt/media/image11.png" Id="R5a0abcd70f4c48d5" /><Relationship Type="http://schemas.openxmlformats.org/officeDocument/2006/relationships/image" Target="/ppt/media/image12.png" Id="R9f91b3f34aa04dcd" /><Relationship Type="http://schemas.openxmlformats.org/officeDocument/2006/relationships/notesSlide" Target="/ppt/notesSlides/notesSlide9.xml" Id="R2a5bf72f7aba42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af8acad2334a5b" /><Relationship Type="http://schemas.openxmlformats.org/officeDocument/2006/relationships/image" Target="/ppt/media/image13.png" Id="R6afcd65fa5e94312" /><Relationship Type="http://schemas.openxmlformats.org/officeDocument/2006/relationships/notesSlide" Target="/ppt/notesSlides/notesSlide10.xml" Id="Rf5f4f1f1fb864c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d7e61779ea41c8" /><Relationship Type="http://schemas.openxmlformats.org/officeDocument/2006/relationships/notesSlide" Target="/ppt/notesSlides/notesSlide11.xml" Id="R63142585f18d46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01f531383c4ea0" /><Relationship Type="http://schemas.openxmlformats.org/officeDocument/2006/relationships/image" Target="/ppt/media/image14.png" Id="Rab6952ef744b4554" /><Relationship Type="http://schemas.openxmlformats.org/officeDocument/2006/relationships/image" Target="/ppt/media/image15.png" Id="Rf7e803242ffc49ad" /><Relationship Type="http://schemas.openxmlformats.org/officeDocument/2006/relationships/notesSlide" Target="/ppt/notesSlides/notesSlide12.xml" Id="Ra5dc0f5b173443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7c01cdec6d4c8c" /><Relationship Type="http://schemas.openxmlformats.org/officeDocument/2006/relationships/image" Target="/ppt/media/image16.png" Id="Rf233ff816c7d4895" /><Relationship Type="http://schemas.openxmlformats.org/officeDocument/2006/relationships/notesSlide" Target="/ppt/notesSlides/notesSlide13.xml" Id="R70612be777b74af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2b4b0740134ff5" /><Relationship Type="http://schemas.openxmlformats.org/officeDocument/2006/relationships/notesSlide" Target="/ppt/notesSlides/notesSlide14.xml" Id="R91ba43d55abc4b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41634a7f85446b" /><Relationship Type="http://schemas.openxmlformats.org/officeDocument/2006/relationships/notesSlide" Target="/ppt/notesSlides/notesSlide15.xml" Id="R2e137fc253dd43c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B95C78-DF9E-4923-A50F-EA175C31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4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945A97-11D0-45E5-9440-D6195DCF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9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6AE9E-C626-498F-B699-CB564EEC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FEDE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CFEDEF"/>
                </a:solidFill>
                <a:latin typeface="Microsoft YaHei"/>
                <a:ea typeface="Microsoft YaHei"/>
                <a:cs typeface="Microsoft YaHei"/>
              </a:rPr>
              <a:t>面向对象建模综合设计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02890-6412-42FA-A532-62A2F7A2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5810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40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毕业设计管理系统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BB498-6BF2-4AB0-8C2C-4AFB526F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6D8B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6D8BE"/>
                </a:solidFill>
                <a:latin typeface="Microsoft YaHei"/>
                <a:ea typeface="Microsoft YaHei"/>
                <a:cs typeface="Microsoft YaHei"/>
              </a:rPr>
              <a:t>需求分析 · UML 建模 · 系统设计 · 前端原型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52214-8D9A-4816-9D66-62E2B703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10050"/>
            <a:ext cx="5543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80D8D2-B183-4220-8A1E-60C98789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67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4B175-9211-4898-B3BF-FF548522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095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2E69F1-D37B-4797-90E8-D4679838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问题来源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485696-DB2D-4BAC-A072-44ED61C4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67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05BFB2-687F-4D13-88B5-8D01188C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095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2B2254-E7F3-4B66-89BA-E2F74E5D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9580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需求获取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B835EB-AF79-4412-AF76-53B81054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67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1B1CE-F52A-4D8C-A1F9-4CEBFD2B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095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2C0690-5EB4-4CB4-89DC-FA655DD0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9580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UML 建模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8FB030-F20D-4ECB-BFD2-B4DBBDEC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67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F7AFFA-B4D3-416D-A519-E3A7C0F1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095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0428CE-7EE8-446A-BC06-F527F0D9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9580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系统设计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6E4301-0005-430C-99B6-9D8A616F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67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FD4FF4-698C-4D89-924B-0A01729C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095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FAE9EE-89EF-4EBA-A251-DE27C01C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9580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原型展示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C0799F-DF6F-4FD1-9410-BC1C9875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66800"/>
            <a:ext cx="1381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710CE-04A2-4B79-A2DA-EFBD6CC2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219200"/>
            <a:ext cx="1038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rPr>
              <a:t>8 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B33BB4-BF64-419E-A9E1-70A03536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00200"/>
            <a:ext cx="1038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核心角色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BABFD7-29B4-411A-9FB8-AA1D81C9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066800"/>
            <a:ext cx="1381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6279D6-0974-4351-ABC4-01490721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219200"/>
            <a:ext cx="1038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10+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5B7469-BD16-413A-A7A5-482FCDD5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1038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业务阶段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7FB7A6-52A3-42D0-BD6E-D911C3D5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1381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A1A8B7-1E65-4797-AFC3-1B3DA956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62200"/>
            <a:ext cx="1038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rPr>
              <a:t>21 张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9880FA-A408-4062-A00A-0CCDFCFD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43200"/>
            <a:ext cx="1038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UML 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5CE479-456E-4892-B556-7C90931E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09800"/>
            <a:ext cx="13811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11EA62-E600-4E01-B8D9-3E50AEC3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62200"/>
            <a:ext cx="1038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15 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853F1E-EB8D-4A51-994D-0AB3FC5A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43200"/>
            <a:ext cx="1038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汇报页数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48E5F5-20CB-4107-8E18-C9D718B7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81450"/>
            <a:ext cx="3333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DE8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DE8E6"/>
                </a:solidFill>
                <a:latin typeface="Microsoft YaHei"/>
                <a:ea typeface="Microsoft YaHei"/>
                <a:cs typeface="Microsoft YaHei"/>
              </a:rPr>
              <a:t>小组 / 组号：待填写</a:t>
            </a:r>
          </a:p>
          <a:p xmlns:a="http://schemas.openxmlformats.org/drawingml/2006/main">
            <a:pPr algn="l">
              <a:defRPr sz="1350" b="0">
                <a:solidFill>
                  <a:srgbClr val="DDE8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DE8E6"/>
                </a:solidFill>
                <a:latin typeface="Microsoft YaHei"/>
                <a:ea typeface="Microsoft YaHei"/>
                <a:cs typeface="Microsoft YaHei"/>
              </a:rPr>
              <a:t>成员：待填写</a:t>
            </a:r>
          </a:p>
          <a:p xmlns:a="http://schemas.openxmlformats.org/drawingml/2006/main">
            <a:pPr algn="l">
              <a:defRPr sz="1350" b="0">
                <a:solidFill>
                  <a:srgbClr val="DDE8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DE8E6"/>
                </a:solidFill>
                <a:latin typeface="Microsoft YaHei"/>
                <a:ea typeface="Microsoft YaHei"/>
                <a:cs typeface="Microsoft YaHei"/>
              </a:rPr>
              <a:t>日期：2026-05-26</a:t>
            </a:r>
          </a:p>
        </p:txBody>
      </p:sp>
    </p:spTree>
    <p:extLst>
      <p:ext uri="{BB962C8B-B14F-4D97-AF65-F5344CB8AC3E}">
        <p14:creationId xmlns:p14="http://schemas.microsoft.com/office/powerpoint/2010/main" val="17731982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50B2AF-2284-4B02-9593-03EBD860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8ADE992-AA00-4748-8CF4-25D30CDC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295FFEB-629D-4A39-BF0E-2C6AC670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715CD1-467B-4710-8A23-AC1C45CF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现有毕设系统的问题，决定了重设计方向。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9A3FB-03F8-4355-ACF9-0D3F058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C0C85-2D99-47D3-9B59-45AC753E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B8360D-BEDA-4677-9DF3-A9A41631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91C3F-F7A4-405B-955F-0F07932E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588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毕业设计贯穿课题、任务书、开题、中期、论文、评阅、答辩、总评与归档。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3B13D-8B32-4797-8F38-3D97E3FC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59B683-16F0-4B25-BB60-AE5E6C23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588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原系统过程评价不足，开题与中期缺少足够的质量控制闭环。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8F1881-BB84-4DD8-A62B-19188D24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6F043-ED39-4CAF-B557-15133189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588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评价主体偏单一，指导教师之外的评价教师参与度需要被显式纳入。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EB423F-7794-468A-9E43-7DF900B6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46338-B18D-456C-9A12-5E74829E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588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评阅分配、答辩分组、成绩汇总等环节人工协调成本较高。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7D3E3-2CED-4735-A31F-D0A9D449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1428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19BFF6-373E-4DA6-AD51-64F971CA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0500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4 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08110-E5E7-4727-8BD9-B5770CFF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8600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直接改进目标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EE2DA8-D8A9-47F3-9D3C-22A59806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52600"/>
            <a:ext cx="1619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364925-1F72-4673-B109-72414EDB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90500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rPr>
              <a:t>5-10 分钟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C1D817-9054-4FD0-AEC3-B871825C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28600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课程提交时长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B1470F-69AD-4C2D-BA83-F12F79AE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62300"/>
            <a:ext cx="33147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BF6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A68165-8BAD-4F8B-8FD5-3346BBF5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099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问题驱动建模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9695B3-D18A-40E6-99FF-CC0BEAD7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48100"/>
            <a:ext cx="2819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本项目不是虚构一个新业务，而是根据课程材料中暴露出的流程缺口，重构角色、用例、对象、状态与部署设计。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68A7DC-0CC2-41BE-83C1-2343BACC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来源：docs/Requirement.md；deliverables/docs/requirements-analysis.md</a:t>
            </a:r>
          </a:p>
        </p:txBody>
      </p:sp>
    </p:spTree>
    <p:extLst>
      <p:ext uri="{BB962C8B-B14F-4D97-AF65-F5344CB8AC3E}">
        <p14:creationId xmlns:p14="http://schemas.microsoft.com/office/powerpoint/2010/main" val="71873137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F53AC-471E-4FD7-A0CE-A08108D8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AD045E5-A7AC-455A-8559-C36D632A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7E27CC2-652C-4443-9128-A2A38D09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REQUIREMENT 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6E864-AA63-4C7E-A9A5-7F1C9D9F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需求获取以材料研读、角色访谈演练和场景推演串起来。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5630E-759D-4F74-BC81-27CCB952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9FD30-4729-4342-A84F-3B89B74D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12A74-12D0-499D-A627-A0FB1AE6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6DAF7-BFE4-4F5B-B398-1588DCDC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文档分析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28589-0179-46C8-B79F-5F368A8E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860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读取课程任务、业务流程、评分规则，明确系统边界与痛点。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7EA1E7-9474-4F00-B1E0-F84B0F10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28800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7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86D3AD-06E4-4F09-908D-52CD680A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场景化访谈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4BA34-3CC1-41F2-B092-8D55AF70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站在管理、教师、学生视角模拟关注点与常见问题。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72B7C-8631-41F9-B17E-B86D181A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28800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3EA8DC-0D8B-48D6-AEB5-0A685E85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336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关键流程推演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F572B-D90D-4781-B328-D40BEE26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860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围绕课题、开题、中期、评阅、答辩、总评提炼用例。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CC29E1-A748-478A-AFBF-DCE3EFA4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9906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162A3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24A141-B812-450D-9B87-90902519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1010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6D8B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6D8BE"/>
                </a:solidFill>
                <a:latin typeface="Microsoft YaHei"/>
                <a:ea typeface="Microsoft YaHei"/>
                <a:cs typeface="Microsoft YaHei"/>
              </a:rPr>
              <a:t>分析结论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2550E3-1B1A-4B6F-B4A2-A25A2F7E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7429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系统本质上是一个多角色、强流程、强审批、强状态的业务系统；建模重点必须落在多主体评价、材料生命周期、统计归档与异常处理。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D9BC5D-9288-448C-917E-A9303049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来源：deliverables/docs/requirements-analysis.md</a:t>
            </a:r>
          </a:p>
        </p:txBody>
      </p:sp>
    </p:spTree>
    <p:extLst>
      <p:ext uri="{BB962C8B-B14F-4D97-AF65-F5344CB8AC3E}">
        <p14:creationId xmlns:p14="http://schemas.microsoft.com/office/powerpoint/2010/main" val="6313980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A46355-DAC3-4219-AD61-3CA137EB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463A3A1-DD96-4D23-8A12-FD4F4D61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0C63AA2-339D-471A-B611-A2AC8D24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ROLE 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85EF6-C568-410D-876E-E0266D66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8 类参与者围绕同一主流程分工协作。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4123E-4F4E-4912-AE18-D68DB87C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20AE6-7375-465B-AABB-8D56082F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C388FB-EAFD-4E77-84BE-A9C142BA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0BE50-7A20-47C7-8FB7-B58659A6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系统管理员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64F17-3077-40BF-9F35-7B636FF1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初始化/统计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D6F31-3613-444A-A1CD-6B1DB02A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82880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5EFE8E-AE75-4C43-B1CF-1D6E105B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9812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教学秘书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9F4E1B-8DBA-41A2-AF87-1B528896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流程/发布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0F06AC-85CF-4FE8-A0CA-50D0C0F8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2880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54E53-C9C2-46DF-8B58-F2992866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812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教学院长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351AC5-8C47-47C6-8E04-C70F75C3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669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发布/查询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CA062D-074C-418C-9AA8-4DD25D4B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2880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DD95C-D81D-4E42-9698-A0FC0A47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812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专业负责人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183A75-99A2-4291-A2AB-B43C48BD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669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审核/分配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4BEC5-FC76-4E15-9DCA-EACDA724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7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E46D7F-280F-4B39-A416-CE0CD5AA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指导教师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2A945B-2A3B-4AB9-9624-10D0B420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申报/审核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46AA2E-2F82-4AF7-B412-4F1EC7D6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7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FD216-C220-41E4-BA76-A6D8D496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52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评阅教师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6A3339-7D5D-49C5-83A7-2B1FE7FA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385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评阅/评分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0F7BF9-3D4F-4DF8-AB11-0B58EBF8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0035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7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A640FE-0933-41AC-B910-CC36960D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52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答辩录入员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C329B9-6241-4955-B865-7DC23D49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385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答辩录入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CB1B58-AF26-480F-8635-68CF810D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00350"/>
            <a:ext cx="2343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7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6A7DE0-7741-4DBD-BCB4-C0C6571E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527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612E6C-88F4-43AA-808B-973C3F34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提交/查询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B8E997-5088-4D23-8666-BA6AF4ED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00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C5CC59-53AF-498C-8666-99C6CEF6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组织账号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02EC1-952D-4F78-832F-3FA44EAA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7200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11015B-B31F-4657-B2C4-D825CAB3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400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F28E7F-E32B-4D43-8137-69A1A52A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57750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课题选题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CC9D31-4B8C-44E0-BA47-20BC7191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7200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EE7147-5169-4BF8-A0CA-2147F9ED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400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3A7DDC-BDC0-47D9-98B7-CEA01304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857750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过程材料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B8E063-F344-4FFD-86B2-CCDA4E4E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57200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7850E7-113D-4404-AEF4-608B14C2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00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6E0CC7-9C72-41CA-9145-50110337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57750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评阅答辩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025D3B-951E-4EB8-B9CD-B74E6962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7200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879B38-D210-4DAE-869D-61259315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400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A6C0DFC-D7EE-4108-8470-471F709B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857750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成绩统计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2CD8A3-7972-4D10-B4A4-1B05B494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来源：deliverables/docs/use-case-analysis.md 角色职责矩阵</a:t>
            </a:r>
          </a:p>
        </p:txBody>
      </p:sp>
    </p:spTree>
    <p:extLst>
      <p:ext uri="{BB962C8B-B14F-4D97-AF65-F5344CB8AC3E}">
        <p14:creationId xmlns:p14="http://schemas.microsoft.com/office/powerpoint/2010/main" val="14029303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5E9698-8DFF-48DC-8097-D9C4F914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2034066-5571-4FEA-A854-74E5BE28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8EE2D10-BB66-41EA-93CB-00EB5834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USE CASE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FBBAA5-840E-4F08-A947-2D2B3F8A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用例模型先圈定系统边界，再按角色拆解职责。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3B1EE-0EB8-42AE-A5F8-F038B571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0012D-F8FC-4D37-90DF-7F66CD72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B232F-AF3F-4412-BA51-449D8474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8102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0c810d56a412b"/>
          <a:stretch xmlns:a="http://schemas.openxmlformats.org/drawingml/2006/main"/>
        </p:blipFill>
        <p:spPr>
          <a:xfrm xmlns:a="http://schemas.openxmlformats.org/drawingml/2006/main">
            <a:off x="2967803" y="1771650"/>
            <a:ext cx="1017644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C064A-F760-4D48-A9CF-D5F556E1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43550"/>
            <a:ext cx="554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系统总用例图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AFF1-18CB-4839-B8E5-D09EA6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22383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9ce8d2ddd49d0"/>
          <a:stretch xmlns:a="http://schemas.openxmlformats.org/drawingml/2006/main"/>
        </p:blipFill>
        <p:spPr>
          <a:xfrm xmlns:a="http://schemas.openxmlformats.org/drawingml/2006/main">
            <a:off x="7666105" y="1771650"/>
            <a:ext cx="431665" cy="13525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C2663-4331-4B34-A120-4865C073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62300"/>
            <a:ext cx="1971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管理侧用例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8F85C8-E085-44AB-8032-25D9F972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676400"/>
            <a:ext cx="22383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977cf33b04b3d"/>
          <a:stretch xmlns:a="http://schemas.openxmlformats.org/drawingml/2006/main"/>
        </p:blipFill>
        <p:spPr>
          <a:xfrm xmlns:a="http://schemas.openxmlformats.org/drawingml/2006/main">
            <a:off x="10020709" y="1771650"/>
            <a:ext cx="523056" cy="135255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5C8A7C-FB76-4BEF-8A59-B1883A67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62300"/>
            <a:ext cx="19716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教师侧用例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329242-74EC-4506-9B84-E20C5A5E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71900"/>
            <a:ext cx="4638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7a6af0c7b482f"/>
          <a:stretch xmlns:a="http://schemas.openxmlformats.org/drawingml/2006/main"/>
        </p:blipFill>
        <p:spPr>
          <a:xfrm xmlns:a="http://schemas.openxmlformats.org/drawingml/2006/main">
            <a:off x="8759699" y="3867150"/>
            <a:ext cx="644776" cy="16383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C8D7E7-84D7-4529-9AA9-A11DCA47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543550"/>
            <a:ext cx="43719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学生 / 评阅 / 答辩侧用例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14B7F8-9C17-4CF2-BB35-B64BF45D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来源：deliverables/render/*use-cases.png</a:t>
            </a:r>
          </a:p>
        </p:txBody>
      </p:sp>
    </p:spTree>
    <p:extLst>
      <p:ext uri="{BB962C8B-B14F-4D97-AF65-F5344CB8AC3E}">
        <p14:creationId xmlns:p14="http://schemas.microsoft.com/office/powerpoint/2010/main" val="108306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B57532-0570-4CDD-A6E5-AC94A7A5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FB06807-526A-43FF-A10A-BBB7AC6D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97BC9AE-AE24-44EF-985B-36581F6B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KEY REALIZATIONS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35463-B273-4A82-977D-D56E2DF4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重点用例把“图上功能”落成可执行业务链。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3D3E4-E08A-4421-8A6F-0FDBAE83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2F9E7-CFF6-41DD-A5E2-8D69251E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FA190-50AC-4E8C-A6E8-62BACDE1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3A964-845A-46ED-BF71-44B0F3E4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D192A5-5318-4B1B-83DF-9A9A63BA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33550"/>
            <a:ext cx="3905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课题申报与审核发布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20943-8EA1-4607-B8DB-8E132D03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52650"/>
            <a:ext cx="542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支持教师盲选、教师指定学生、学生申报三类来源。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E871D-AB9B-40C6-827A-371EFAF0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E24FAE-85C9-453D-9647-4D2A9E59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04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E6A5A-3996-44F6-BD1B-FE197AF9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90850"/>
            <a:ext cx="3905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开题报告审核与评价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FB5DA1-4FC6-4151-B75A-9F122DD1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09950"/>
            <a:ext cx="542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学生提交后由指导教师与评价教师共同完成过程评价。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13FD8-B4F6-4D0F-A751-CA0883BB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6A866-BCAC-4F3E-A50B-886CD9BD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EA0E89-2E49-4A5A-B72C-D0DC170D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48150"/>
            <a:ext cx="3905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答辩成绩录入与总评发布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F36987-7220-4EA9-97B9-A28C4211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67250"/>
            <a:ext cx="542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按指导 30%、评阅 30%、答辩 40% 汇总并发布。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D81B8A-9838-4319-AA09-C1DECED4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90700"/>
            <a:ext cx="31432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BF6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E5FA6D-5C87-4EC6-B2B9-91D087D3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共同结构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CAB1CD-6548-4D1F-901E-607271E4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9557B4-EA15-4313-9120-8551571C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860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852036-CDDD-4A93-B0D7-E57694A8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0CA27-CF9C-4879-BA7B-158668A6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670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参与者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66D03C-3836-4F62-A101-F9B6107F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AA7962-FEC4-4E38-8207-ACEA304A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480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主成功场景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83D876-301E-4529-9434-3F589F31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05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9EB99-E3AD-4D42-9305-41CB039C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290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异常流程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592D4D-E1E4-4CB0-BD7A-1336485C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8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96980B-04B4-4553-AF75-81609154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100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后置状态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A94441-ED58-4E45-8B43-C64718BA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来源：deliverables/docs/use-case-realizations.md</a:t>
            </a:r>
          </a:p>
        </p:txBody>
      </p:sp>
    </p:spTree>
    <p:extLst>
      <p:ext uri="{BB962C8B-B14F-4D97-AF65-F5344CB8AC3E}">
        <p14:creationId xmlns:p14="http://schemas.microsoft.com/office/powerpoint/2010/main" val="44178280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FBFE39-AEBD-4925-983F-6E28464F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CCDCEDE-D1CD-4FAA-A8AE-BA3398CE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2FAD11B-E097-4F9B-9B61-1B6C92C5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SEQUENCE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CDA69F-23AF-4994-8B5D-40DDDEFA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顺序图突出多角色之间的触发、审核和汇总关系。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516B4-0C47-4DE6-8D96-724012AC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17DA0-02E0-4A62-89C9-8B953614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4FA60-130A-4F4A-9BE3-604698E2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5334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7d8467200e454d"/>
          <a:stretch xmlns:a="http://schemas.openxmlformats.org/drawingml/2006/main"/>
        </p:blipFill>
        <p:spPr>
          <a:xfrm xmlns:a="http://schemas.openxmlformats.org/drawingml/2006/main">
            <a:off x="893117" y="1790700"/>
            <a:ext cx="4728865" cy="35433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37C89-97CD-4BFC-88C1-6670F529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72100"/>
            <a:ext cx="506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开题报告审核与评价顺序图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E3B06-7471-4FFE-A86C-94CEDB4C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95450"/>
            <a:ext cx="5334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e67159125492c"/>
          <a:stretch xmlns:a="http://schemas.openxmlformats.org/drawingml/2006/main"/>
        </p:blipFill>
        <p:spPr>
          <a:xfrm xmlns:a="http://schemas.openxmlformats.org/drawingml/2006/main">
            <a:off x="6381750" y="2274960"/>
            <a:ext cx="5143500" cy="2574779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B1162-65FA-4046-820F-44F5595A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372100"/>
            <a:ext cx="506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答辩成绩录入与总评发布顺序图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84B4C5-23CC-4189-AFC6-1FFA3500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来源：deliverables/render/sequence-proposal-review.png；sequence-score-publish.png</a:t>
            </a:r>
          </a:p>
        </p:txBody>
      </p:sp>
    </p:spTree>
    <p:extLst>
      <p:ext uri="{BB962C8B-B14F-4D97-AF65-F5344CB8AC3E}">
        <p14:creationId xmlns:p14="http://schemas.microsoft.com/office/powerpoint/2010/main" val="13347392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9F21DF-8A13-4E30-83C6-C2A3C4BB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65F0390-6BAB-4C68-9093-D70FEDDB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2377709-74EF-4FF7-A571-C5D0B738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FLOW &amp; STATE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D1C3B-5453-4985-BEFC-23C0E79A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活动图看跨角色流程，状态图看对象生命周期。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677C2-EF75-4A80-B156-2C94D405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B57B0-FD22-44AC-BE39-2E891E1F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4EA048-1DF1-416E-8160-7E7D3016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3429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0e123bb374148"/>
          <a:stretch xmlns:a="http://schemas.openxmlformats.org/drawingml/2006/main"/>
        </p:blipFill>
        <p:spPr>
          <a:xfrm xmlns:a="http://schemas.openxmlformats.org/drawingml/2006/main">
            <a:off x="1617785" y="1752600"/>
            <a:ext cx="1336431" cy="16383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6CC3A-3C63-4C28-BD81-EBEAC5BF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课题与选题活动图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72EC6-3799-45D9-BB55-84B92BB9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57350"/>
            <a:ext cx="3429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a34fb48754e85"/>
          <a:stretch xmlns:a="http://schemas.openxmlformats.org/drawingml/2006/main"/>
        </p:blipFill>
        <p:spPr>
          <a:xfrm xmlns:a="http://schemas.openxmlformats.org/drawingml/2006/main">
            <a:off x="5916865" y="1752600"/>
            <a:ext cx="282070" cy="16383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46D13-2C0A-41E2-8A69-D1263806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2900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论文全过程活动图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3302B-F022-4734-B448-9D6A1203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3143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2e5caf5bc8444a"/>
          <a:stretch xmlns:a="http://schemas.openxmlformats.org/drawingml/2006/main"/>
        </p:blipFill>
        <p:spPr>
          <a:xfrm xmlns:a="http://schemas.openxmlformats.org/drawingml/2006/main">
            <a:off x="9281611" y="1752600"/>
            <a:ext cx="810627" cy="16383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46092-E834-4923-823B-6F145827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29000"/>
            <a:ext cx="2876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课题状态图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52CC08-05AE-42F9-89AC-D6A6FB0E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95750"/>
            <a:ext cx="7429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a24aef4bd489a"/>
          <a:stretch xmlns:a="http://schemas.openxmlformats.org/drawingml/2006/main"/>
        </p:blipFill>
        <p:spPr>
          <a:xfrm xmlns:a="http://schemas.openxmlformats.org/drawingml/2006/main">
            <a:off x="5865167" y="4191000"/>
            <a:ext cx="423566" cy="11620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B0D467-823A-41EE-A9E0-708B22FD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391150"/>
            <a:ext cx="7162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论文材料状态图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025136-AE7A-4141-9E4B-49674106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来源：deliverables/render/activity-*.png；state-*.png</a:t>
            </a:r>
          </a:p>
        </p:txBody>
      </p:sp>
    </p:spTree>
    <p:extLst>
      <p:ext uri="{BB962C8B-B14F-4D97-AF65-F5344CB8AC3E}">
        <p14:creationId xmlns:p14="http://schemas.microsoft.com/office/powerpoint/2010/main" val="146948736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EDA246-7652-492D-BE4F-EB92D3F1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E22C73E-76C2-445E-8FFE-68F8D878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F099CAD-C24B-455F-89DD-0835F8F6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CLASS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19AAE-9023-4487-8208-1781D4C8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静态结构围绕课题、材料、评阅、答辩、成绩建立统一语义。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744C9-5B8D-4B4B-BB89-7BFE4419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C7CC3-ED5E-4B80-A1AD-AA2BDB85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229B23-39D3-4489-8BD6-064F2A17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57225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abcd70f4c48d5"/>
          <a:stretch xmlns:a="http://schemas.openxmlformats.org/drawingml/2006/main"/>
        </p:blipFill>
        <p:spPr>
          <a:xfrm xmlns:a="http://schemas.openxmlformats.org/drawingml/2006/main">
            <a:off x="1760012" y="1714500"/>
            <a:ext cx="4157125" cy="3848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AA06D-6C08-4396-9EBB-39535212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630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领域类图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89900-859F-413B-9946-C91BDE76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619250"/>
            <a:ext cx="37338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91b3f34aa04dcd"/>
          <a:stretch xmlns:a="http://schemas.openxmlformats.org/drawingml/2006/main"/>
        </p:blipFill>
        <p:spPr>
          <a:xfrm xmlns:a="http://schemas.openxmlformats.org/drawingml/2006/main">
            <a:off x="7581900" y="2047541"/>
            <a:ext cx="3543300" cy="1543718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A1BF6-4423-40DF-9524-2E5A3B64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62400"/>
            <a:ext cx="3467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分析类图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D8D819-2DA0-433E-928C-49F632BA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86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5E5E85-7B70-4EF7-8289-B965613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10100"/>
            <a:ext cx="3028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实体类：User / Topic / TaskBook / ScoreSheet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D00AA-7D6A-4B43-88A0-E78C4B98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048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BB4DDF-4E07-4030-9570-A198B446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72050"/>
            <a:ext cx="3028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边界类：提交、审核、分配、发布页面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46CE9-FAEA-40FA-96D7-E6FCA0F3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410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21540E-002C-441C-8136-8C0F7ADD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34000"/>
            <a:ext cx="3028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控制类：Topic / Proposal / Review / Score Controller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42BC0C-8496-4602-9317-A0FFFBD8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来源：deliverables/docs/domain-class-design.md；deliverables/render/*class-diagram.png</a:t>
            </a:r>
          </a:p>
        </p:txBody>
      </p:sp>
    </p:spTree>
    <p:extLst>
      <p:ext uri="{BB962C8B-B14F-4D97-AF65-F5344CB8AC3E}">
        <p14:creationId xmlns:p14="http://schemas.microsoft.com/office/powerpoint/2010/main" val="36978357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70A3C2-E36D-4929-8A25-B99B9EDD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551DD03-9734-4955-B7B8-AD6B59BE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C4BEADB-E10E-4BBC-94B6-B739473A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DATABASE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32EA76-3A2A-48A4-BD0C-197930A8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数据库设计支撑全过程管理，而不是只存学生信息。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4CF6A-381A-4CBC-BEEA-C38BF827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8D918-A295-4500-A614-16B99A9A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51F850-D8E9-4EE8-8750-3D3E730F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17220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fcd65fa5e94312"/>
          <a:stretch xmlns:a="http://schemas.openxmlformats.org/drawingml/2006/main"/>
        </p:blipFill>
        <p:spPr>
          <a:xfrm xmlns:a="http://schemas.openxmlformats.org/drawingml/2006/main">
            <a:off x="704850" y="2883279"/>
            <a:ext cx="5981700" cy="1491492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99906-2A16-48D0-BA91-0C081A1B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数据库 ER 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2F370-CF78-4B50-88B8-8D81B68F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526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18A902-4D06-4444-A739-EBF1B6A6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478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组织与权限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1F54E-3E52-4032-B79C-8D64F7F3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764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user / role / college / major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0F6A02-A5C5-4A23-9F6B-0ACEA1B1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9555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E2A61-451F-46D4-8774-22FCC3FA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课题与选题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681953-78F6-401D-B8BD-CC23064A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1937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topic / topic_review / topic_selection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D78911-74E9-4650-A32E-E7421B72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385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6C934B-5B04-4F3B-9952-69F1460E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337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过程材料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000E09-F810-4AFF-A3EC-A719E445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623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task_book / proposal / midterm / thesis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EE2F87-0F46-4397-9D0C-A6C4FE64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98145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2E3D2F-A1B0-46F2-AE40-682E7FF2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767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评阅答辩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A802BC-874D-4A0C-910C-9BAAFFC9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0527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review_assignment / defense_record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1F4B08-A1DD-4FC8-AE90-220BD778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24400"/>
            <a:ext cx="3657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7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8300F-FFE7-4F4A-89A1-D16060F4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196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成绩归档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250672-FFFA-459F-BB5C-DF3FF8FD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84822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score_sheet / archive / export_task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19516E-F1E6-4F6A-ADB0-D0D5F89E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600700"/>
            <a:ext cx="3524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rPr>
              <a:t>总评权重：指导 30% · 评阅 30% · 答辩 40%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68AE9F-6BC0-4CDE-98E8-7532F215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来源：deliverables/docs/database-design.md；docs/Blueprint.md</a:t>
            </a:r>
          </a:p>
        </p:txBody>
      </p:sp>
    </p:spTree>
    <p:extLst>
      <p:ext uri="{BB962C8B-B14F-4D97-AF65-F5344CB8AC3E}">
        <p14:creationId xmlns:p14="http://schemas.microsoft.com/office/powerpoint/2010/main" val="1071655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92E5C4-66D6-4FA9-8EE0-D2B59823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4820AE8-3918-44E3-B202-2E31C008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A36B477-D60A-45DB-8EF2-917F2019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COURSE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A1BC5-D8E8-46EA-8176-7900C611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课程要求已经映射到对应文档、图和原型成果。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6BDB0-5279-4680-B0F9-D81138E3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5AFAC-52C0-4D02-88A3-570F7800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5337E-9381-48F3-9A6E-8C0C3C23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28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DC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AF828-DA38-4543-8512-3FAC3B1D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需求获取与用例模型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1443D-A926-49EF-9464-C7612890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1927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requirements-analysis.md / use-case-analysis.md / 用例图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8F4B47-DC98-4974-8290-D3517782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838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286EE-C18B-4E59-ADDB-1AEFB627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28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BF6"/>
          </a:solidFill>
          <a:ln xmlns:a="http://schemas.openxmlformats.org/drawingml/2006/main" w="9525">
            <a:solidFill>
              <a:srgbClr val="E1DC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FE418-1957-4A0F-ACB7-58281921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用例实现与类图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B763E3-B519-4466-8484-6B2C17B5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4317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use-case-realizations.md / domain-class-design.md / 类图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A97D5-0DEB-4F85-A591-8209AD41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562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09A48A-40AA-40D9-9B24-50F2ABF3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28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DCC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1EF1A-86C3-4927-B399-06FC502A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顺序图、活动图、状态图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9C57F-0BDC-46E2-AFC5-F8D7D517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6707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sequence-*.png / activity-*.png / state-*.png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F91B7-22F4-431B-9568-7F57AC9C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861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B6743C-C86F-478F-B8D5-93D7CA80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28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BF6"/>
          </a:solidFill>
          <a:ln xmlns:a="http://schemas.openxmlformats.org/drawingml/2006/main" w="9525">
            <a:solidFill>
              <a:srgbClr val="E1DC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F24092-9016-47A3-90A4-1E011DEC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数据库、包图、构件图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4CDD48-B89D-4E33-A55F-E304A8E5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9097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database-design.md / package-diagram.png / component-diagram.png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A5A7C-6E73-4BFD-8467-A8852247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010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BFBD34-10E7-4B5A-BF36-49BAECC6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28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DCC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563A69-2D0E-41F3-A52D-D3EE7091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界面设计与部署图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967F08-6831-4F38-A3F2-AA2FB9BA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14875"/>
            <a:ext cx="647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interface-design.md / frontend/ / deployment-diagram.png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419540-0735-4313-AC36-7349A3C8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7339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10A859-5A2D-4945-B546-854B1C71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来源：OUTPUT.md；plans/project-todo.md；INDEX.md</a:t>
            </a:r>
          </a:p>
        </p:txBody>
      </p:sp>
    </p:spTree>
    <p:extLst>
      <p:ext uri="{BB962C8B-B14F-4D97-AF65-F5344CB8AC3E}">
        <p14:creationId xmlns:p14="http://schemas.microsoft.com/office/powerpoint/2010/main" val="156022210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FAF669-DD96-45E3-80BD-A640EFD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DDBB930-365B-40B9-BE00-D800161D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A3BD2E3-4C9B-4275-98EB-474C4603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SYSTEM STRUCTURE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F97D6-16C2-4DDE-B1D2-808AC494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技术方案服务展示，包图和构件图服务职责边界。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26A56-8297-457D-A224-98B93BAD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4F356-5E92-4590-B17A-00FF514A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07554-E883-41A2-B171-C33E5EE6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6952ef744b4554"/>
          <a:stretch xmlns:a="http://schemas.openxmlformats.org/drawingml/2006/main"/>
        </p:blipFill>
        <p:spPr>
          <a:xfrm xmlns:a="http://schemas.openxmlformats.org/drawingml/2006/main">
            <a:off x="704850" y="2445435"/>
            <a:ext cx="4762500" cy="154802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6ACE9-4E47-4D3F-9A5E-7D548E60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468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包图：按业务域划分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FC836B-5BCC-40A9-9185-1CC1CC97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38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803242ffc49ad"/>
          <a:stretch xmlns:a="http://schemas.openxmlformats.org/drawingml/2006/main"/>
        </p:blipFill>
        <p:spPr>
          <a:xfrm xmlns:a="http://schemas.openxmlformats.org/drawingml/2006/main">
            <a:off x="6096000" y="2524566"/>
            <a:ext cx="4762500" cy="1389769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BD458C-9882-46E8-85D5-246AF46A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43450"/>
            <a:ext cx="468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构件图：前端、业务与数据模块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A31EBD-DB05-4AD6-884F-56AB375C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09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Vue 3 + JavaScript · Mock 数据 · Markdown + PlantUML + draw.io · Vite 本地演示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1079B9-5C85-40E0-8956-916AAA1C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来源：deliverables/docs/system-design.md；plans/frontend-page-plan.md</a:t>
            </a:r>
          </a:p>
        </p:txBody>
      </p:sp>
    </p:spTree>
    <p:extLst>
      <p:ext uri="{BB962C8B-B14F-4D97-AF65-F5344CB8AC3E}">
        <p14:creationId xmlns:p14="http://schemas.microsoft.com/office/powerpoint/2010/main" val="68640662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4AE70-79BA-473A-9533-1FFD8E72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CA90E32-9166-483A-81B4-EA28F90E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B39C1EF-4858-442D-8FCA-27A87A09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DEPLOYMENT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D2F20-4B4F-408E-95FF-EECA244F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部署设计同时区分当前演示环境与完整系统落地形态。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4BE67-DEF4-41D8-A49C-29FC5CAD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D070A-7A74-42B5-AF56-AF951D56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CFF80-E569-4BF4-913C-A97ABEFC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905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3ff816c7d4895"/>
          <a:stretch xmlns:a="http://schemas.openxmlformats.org/drawingml/2006/main"/>
        </p:blipFill>
        <p:spPr>
          <a:xfrm xmlns:a="http://schemas.openxmlformats.org/drawingml/2006/main">
            <a:off x="762000" y="1931590"/>
            <a:ext cx="5715000" cy="318532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91FB7-80FD-4682-AF1F-EEF21242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4000"/>
            <a:ext cx="563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部署图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0A735-5A78-480A-92FD-678E8067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24050"/>
            <a:ext cx="333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838006-124C-4B81-8745-000B6AFB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原型演示环境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025DCD-A687-42C7-851D-575DCE48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14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浏览器访问 Vue 前端应用，由 Mock 数据模块提供本地接口模拟。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0A37D9-9C2B-4E41-8BEF-519D61F6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43300"/>
            <a:ext cx="333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7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E01BA-CA82-429D-B3F4-95C05396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52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完整逻辑部署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BB9CD6-3DCB-4A11-837A-21636245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133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静态资源服务、业务应用服务、关系型数据库与文件存储分层协作。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9A2BDE-EEC9-4508-B9F4-636A6E4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来源：deliverables/docs/deployment-design.md</a:t>
            </a:r>
          </a:p>
        </p:txBody>
      </p:sp>
    </p:spTree>
    <p:extLst>
      <p:ext uri="{BB962C8B-B14F-4D97-AF65-F5344CB8AC3E}">
        <p14:creationId xmlns:p14="http://schemas.microsoft.com/office/powerpoint/2010/main" val="67674053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D43A45-2F7C-45C8-AF6C-03D671E2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8C6C4E7-1844-4134-98A0-20E50C10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90EBD96-4A76-4FB1-9D5C-F30F4E41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INTERFACE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6A67E-C080-47C7-81D3-FF9DAE25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前端原型把建模结果转成角色化工作台和流程页面。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B8290-FA77-4649-8823-54FE51A3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C4681-5127-4234-9CE3-0246D9BB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B94C93-6463-43E9-A8D0-D942EA4E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38AC1-D451-4FEB-BB2B-5FB4CDAB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943"/>
          </a:solidFill>
          <a:ln xmlns:a="http://schemas.openxmlformats.org/drawingml/2006/main" w="0">
            <a:solidFill>
              <a:srgbClr val="1539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C1CA35-CBFA-408B-B125-C00EB272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毕业设计管理系统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A2829F-F317-4A78-A44B-A9136F52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85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D6E9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D6E9E8"/>
                </a:solidFill>
                <a:latin typeface="Microsoft YaHei"/>
                <a:ea typeface="Microsoft YaHei"/>
                <a:cs typeface="Microsoft YaHei"/>
              </a:rPr>
              <a:t>角色切换  待办  消息  用户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2F1AD-EE3D-446C-A4BB-8FC0346F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000250" cy="293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2"/>
          </a:solidFill>
          <a:ln xmlns:a="http://schemas.openxmlformats.org/drawingml/2006/main" w="9525">
            <a:solidFill>
              <a:srgbClr val="E0DB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9135A-AFB2-4C1E-AB4C-C9970DB4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首页仪表盘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0B0C5-08DD-49C7-92FE-B4D1E83A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课题与选题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98541-095C-4D5E-9841-8BEA4198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过程材料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08C44-CEBC-42ED-BD65-75E97C14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814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评阅与答辩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542969-DB0D-4D3F-A622-ED7BD61E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成绩与统计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66E488-C36E-44BD-BCC0-34B995C2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归档与系统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7C0190-4BB1-49AF-86C0-928E9263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71750"/>
            <a:ext cx="1524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5C4DD3-48EF-4D0B-81CC-DC1942FF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24150"/>
            <a:ext cx="1181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63CFF6-6074-455D-B57E-BF65C1D0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051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待处理开题报告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ADE35-3A54-4D1E-BBD8-DB1A8F6E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71750"/>
            <a:ext cx="1524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694C01-D5F3-4B8A-94DD-711A9848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1181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8A2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BBD57E-EC05-4969-94D9-995952E7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051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中期待评价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969F9F-A3CD-44FA-BD72-4F03EFCE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71750"/>
            <a:ext cx="1524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1A611-FEC2-44DE-8FDE-EEB57C8F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24150"/>
            <a:ext cx="1181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D8A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D8A5D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6B707B-2CAD-42EA-89ED-DF4C2EFB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051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待发布成绩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8EF111-DD75-4315-807D-D4CF7B98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719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BF6"/>
          </a:solidFill>
          <a:ln xmlns:a="http://schemas.openxmlformats.org/drawingml/2006/main" w="9525">
            <a:solidFill>
              <a:srgbClr val="E3DED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BF17BA-424D-47FA-8E4B-D490C445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6240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开题报告审核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D4B7D0-3122-4D0F-B4B2-A1FB1DE9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2435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材料版本、指导教师评价、评价教师意见、状态流转在同一页面完成。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9E2781-F419-4DF9-B4D6-F5BD2725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62600"/>
            <a:ext cx="476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8A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D8A5D"/>
                </a:solidFill>
                <a:latin typeface="Microsoft YaHei"/>
                <a:ea typeface="Microsoft YaHei"/>
                <a:cs typeface="Microsoft YaHei"/>
              </a:rPr>
              <a:t>构建验证：前端 Vite 生产构建成功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887974-5FD1-4435-BE84-3AF0F516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来源：deliverables/docs/interface-design.md；plans/frontend-page-plan.md；frontend/ 构建结果</a:t>
            </a:r>
          </a:p>
        </p:txBody>
      </p:sp>
    </p:spTree>
    <p:extLst>
      <p:ext uri="{BB962C8B-B14F-4D97-AF65-F5344CB8AC3E}">
        <p14:creationId xmlns:p14="http://schemas.microsoft.com/office/powerpoint/2010/main" val="160882655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F64CE4-01C9-4861-B31E-C193A9E2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6BDAF50-DE82-48B4-85E9-958C9181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F4DB2B7-7663-4EFA-BB61-8802693C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C15D4-283E-480B-9A2C-14039D18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"/>
            <a:ext cx="819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17202A"/>
                </a:solidFill>
                <a:latin typeface="Microsoft YaHei UI"/>
                <a:ea typeface="Microsoft YaHei UI"/>
                <a:cs typeface="Microsoft YaHei UI"/>
              </a:rPr>
              <a:t>主体成果已齐，剩余工作集中在提交层收尾。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0160D-AFF4-41A8-B69E-65BB5C88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3400"/>
            <a:ext cx="552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A6570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9104C-7E43-4654-A4CB-C43D85E6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49425-B7DF-4E70-BD9A-59D2D63B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27E0D-715E-4AD3-A8F2-A22C6CA3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E8AC0A-BD20-4CA8-B381-59900B66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62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需求分析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A0F50-0592-492B-BB9C-F7BD1E05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09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5740F-4BEC-4A67-AC17-7BE64925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00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EA346-16EF-40FD-A405-FC46CCE2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962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UML 建模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54A63-9404-4945-A50B-1DB56BE2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09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59958-E85E-4E3C-8ED4-0C6BB5DD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00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E1B05-AEE1-4F80-BF19-A8C33059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62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数据库设计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191AFB-62B1-4E44-86D6-5EC0C8E8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8FAEA-51A8-46C2-824B-99C83B4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00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69B17F-8C84-4270-8B7E-9ADA3D1C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621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系统设计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B44B0-49A1-4206-BAC4-A3B2C511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33A0B0-62E8-437A-9168-B1C4DA19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752C3F-0FBB-4284-B4E2-DA2C4983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813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部署设计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59FB19-D103-43EA-B942-A9BFE43E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E294B7-3EBB-424B-89AE-646C4244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194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F8B3A7-FF53-402B-ABB6-12BB4CBE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813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界面设计说明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0BDD6F-5C88-4EE7-AEEC-743743B8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289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A1D2E8-636F-4B4F-81B4-0F53F987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8194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77C42-FFA4-4341-8F45-F9708E99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813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前端原型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305675-D2E2-4451-B020-2AF75117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9100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162A3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C022F-46E1-455A-9B0C-5A2A332C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577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6D8B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E6D8BE"/>
                </a:solidFill>
                <a:latin typeface="Microsoft YaHei"/>
                <a:ea typeface="Microsoft YaHei"/>
                <a:cs typeface="Microsoft YaHei"/>
              </a:rPr>
              <a:t>后续补齐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5A9313-3E75-4D03-949E-7A77793B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57700"/>
            <a:ext cx="619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真实组员信息、个人工作说明、最终 PDF 报告、录屏文件与提交包整理。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8ECA6C-C711-48C7-B5D8-E23652F4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769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07C89"/>
                </a:solidFill>
                <a:latin typeface="Microsoft YaHei"/>
                <a:ea typeface="Microsoft YaHei"/>
                <a:cs typeface="Microsoft YaHei"/>
              </a:rPr>
              <a:t>谢谢大家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67AB56-142B-4DB3-AE2C-7B820FA3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A817C"/>
                </a:solidFill>
                <a:latin typeface="Microsoft YaHei"/>
                <a:ea typeface="Microsoft YaHei"/>
                <a:cs typeface="Microsoft YaHei"/>
              </a:rPr>
              <a:t>来源：PPT.md；plans/project-todo.md；deliverables/docs/team-and-deliverables.md</a:t>
            </a:r>
          </a:p>
        </p:txBody>
      </p:sp>
    </p:spTree>
    <p:extLst>
      <p:ext uri="{BB962C8B-B14F-4D97-AF65-F5344CB8AC3E}">
        <p14:creationId xmlns:p14="http://schemas.microsoft.com/office/powerpoint/2010/main" val="14053376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2026-05-26T14:23:48.7230000Z</dcterms:created>
  <dcterms:modified xsi:type="dcterms:W3CDTF">2026-05-26T14:23:48.7240000Z</dcterms:modified>
</coreProperties>
</file>